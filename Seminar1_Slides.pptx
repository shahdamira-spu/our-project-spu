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515ca6d-4d3b-fc30-3088-8ba488505c80}">
          <p14:sldIdLst>
            <p14:sldId id="256"/>
          </p14:sldIdLst>
        </p14:section>
        <p14:section name="Framing" id="{5a4d3841-9dbb-f479-23ca-1c9802c2314b}">
          <p14:sldIdLst>
            <p14:sldId id="257"/>
            <p14:sldId id="258"/>
          </p14:sldIdLst>
        </p14:section>
        <p14:section name="Literature" id="{2a36a026-864f-826b-6fdb-bafd22716ec2}">
          <p14:sldIdLst>
            <p14:sldId id="259"/>
          </p14:sldIdLst>
        </p14:section>
        <p14:section name="Method" id="{d2a4aad1-d1c7-4c97-f482-fd5763a410c0}">
          <p14:sldIdLst>
            <p14:sldId id="260"/>
          </p14:sldIdLst>
        </p14:section>
        <p14:section name="Data" id="{886637c4-ebad-d6f5-b94c-1b4949855178}">
          <p14:sldIdLst>
            <p14:sldId id="261"/>
          </p14:sldIdLst>
        </p14:section>
        <p14:section name="Evaluation" id="{b89ad21c-7d6b-80f8-c357-6bd627db7deb}">
          <p14:sldIdLst>
            <p14:sldId id="262"/>
          </p14:sldIdLst>
        </p14:section>
        <p14:section name="Plan" id="{7ade1f82-fa6e-b645-1adc-2bf26b10d3cb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3D4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3D4C"/>
                </a:solidFill>
                <a:latin typeface="Arial"/>
              </a:rPr>
              <a:t>Readiness (0-10), n = 1,729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Report-days</c:v>
                </c:pt>
              </c:strCache>
            </c:strRef>
          </c:tx>
          <c:spPr>
            <a:solidFill>
              <a:srgbClr val="1C7C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6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70</c:v>
                </c:pt>
                <c:pt idx="1">
                  <c:v>16</c:v>
                </c:pt>
                <c:pt idx="2">
                  <c:v>73</c:v>
                </c:pt>
                <c:pt idx="3">
                  <c:v>174</c:v>
                </c:pt>
                <c:pt idx="4">
                  <c:v>276</c:v>
                </c:pt>
                <c:pt idx="5">
                  <c:v>477</c:v>
                </c:pt>
                <c:pt idx="6">
                  <c:v>284</c:v>
                </c:pt>
                <c:pt idx="7">
                  <c:v>226</c:v>
                </c:pt>
                <c:pt idx="8">
                  <c:v>103</c:v>
                </c:pt>
                <c:pt idx="9">
                  <c:v>15</c:v>
                </c:pt>
                <c:pt idx="10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26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3EC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in one sentence: an interpretable model that predicts whether an athlete will have a low-readiness day tomorrow, using PMData.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Users: coaches, athletes and gyms. Affected: the 16 anonymised PMData participants. Decision support only, not a medical diagnosis.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Recent PMData work leans toward language models. Personalization has been studied mostly for sleep or injury, not readiness.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matrix is built from abstracts and will be verified against the full texts during the literature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aggregate to daily rows, build features from past days only, evaluate with leave-one-subject-out, then explain with SHAP.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EDA notebook reproduces these numbers from daily.csv. Sources: Fitbit Versa 2, PMSys app, Google Forms logs, Nov 2019 to Mar 2020.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costlier error is the false negative. Test-set figures are provisional and will be refined in W03.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seminar needs no results. Next step: baselines under leave-one-subject-out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Seminar 1  |  Next-day athlete readiness prediction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ARTIFICIAL INTELLIGENCE ENGINEERING  |  SYRIAN PRIVATE UNIVERSITY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Next-Day Athlete Readiness Prediction from Wearable, Training-Load and Lifestyle Data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1: problem framing, literature review and dataset description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[Name]    Supervisor: [Name]   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and goal</a:t>
            </a:r>
            <a:endParaRPr lang="en-US" sz="3200" dirty="0"/>
          </a:p>
        </p:txBody>
      </p:sp>
      <p:sp>
        <p:nvSpPr>
          <p:cNvPr id="3" name="problem-card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problem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27632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load, sleep and stress interact, and coaches mostly rely on feel or closed tools.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readiness is noisy and differs from athlete to athlete.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are small (16 athletes), so models must be tested on unseen people.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66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tomorrow's low-readiness day with a lightweight, explainable model and compare population vs personalized models.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1800" dirty="0"/>
          </a:p>
        </p:txBody>
      </p:sp>
      <p:sp>
        <p:nvSpPr>
          <p:cNvPr id="9" name="rq-badge-RQ1"/>
          <p:cNvSpPr/>
          <p:nvPr/>
        </p:nvSpPr>
        <p:spPr>
          <a:xfrm>
            <a:off x="4754880" y="15544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5544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is most accurate on unseen athletes?</a:t>
            </a:r>
            <a:endParaRPr lang="en-US" sz="1400" dirty="0"/>
          </a:p>
        </p:txBody>
      </p:sp>
      <p:sp>
        <p:nvSpPr>
          <p:cNvPr id="12" name="rq-badge-RQ2"/>
          <p:cNvSpPr/>
          <p:nvPr/>
        </p:nvSpPr>
        <p:spPr>
          <a:xfrm>
            <a:off x="4754880" y="230428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2304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23042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personalization beat one population model?</a:t>
            </a:r>
            <a:endParaRPr lang="en-US" sz="1400" dirty="0"/>
          </a:p>
        </p:txBody>
      </p:sp>
      <p:sp>
        <p:nvSpPr>
          <p:cNvPr id="15" name="rq-badge-RQ3"/>
          <p:cNvSpPr/>
          <p:nvPr/>
        </p:nvSpPr>
        <p:spPr>
          <a:xfrm>
            <a:off x="4754880" y="305409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3054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305409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sleep, load and nutrition each add?</a:t>
            </a:r>
            <a:endParaRPr lang="en-US" sz="1400" dirty="0"/>
          </a:p>
        </p:txBody>
      </p:sp>
      <p:sp>
        <p:nvSpPr>
          <p:cNvPr id="18" name="rq-badge-RQ4"/>
          <p:cNvSpPr/>
          <p:nvPr/>
        </p:nvSpPr>
        <p:spPr>
          <a:xfrm>
            <a:off x="4754880" y="3803904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54880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38039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days of data does a new user need?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State of the art</a:t>
            </a:r>
            <a:endParaRPr lang="en-US" sz="3200" dirty="0"/>
          </a:p>
        </p:txBody>
      </p:sp>
      <p:graphicFrame>
        <p:nvGraphicFramePr>
          <p:cNvPr id="4" name="so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148840"/>
                <a:gridCol w="2011680"/>
                <a:gridCol w="2286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Work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Data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Relevance to us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62F"/>
                          </a:solidFill>
                        </a:rPr>
                        <a:t>PMData (2020)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62F"/>
                          </a:solidFill>
                        </a:rPr>
                        <a:t>16 athletes: Fitbit, PMSys, logs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62F"/>
                          </a:solidFill>
                        </a:rPr>
                        <a:t>Dataset paper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62F"/>
                          </a:solidFill>
                        </a:rPr>
                        <a:t>Our data source and its limits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62F"/>
                          </a:solidFill>
                        </a:rPr>
                        <a:t>Health-LLM (2024)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62F"/>
                          </a:solidFill>
                        </a:rPr>
                        <a:t>Wearable data incl. PMData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62F"/>
                          </a:solidFill>
                        </a:rPr>
                        <a:t>Large language models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62F"/>
                          </a:solidFill>
                        </a:rPr>
                        <a:t>Strong reference; heavy models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62F"/>
                          </a:solidFill>
                        </a:rPr>
                        <a:t>PerSQ (2022)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62F"/>
                          </a:solidFill>
                        </a:rPr>
                        <a:t>PMData lifelogs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62F"/>
                          </a:solidFill>
                        </a:rPr>
                        <a:t>Personalized sleep quality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62F"/>
                          </a:solidFill>
                        </a:rPr>
                        <a:t>Supports personalization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62F"/>
                          </a:solidFill>
                        </a:rPr>
                        <a:t>HealthSLM-Bench (2025)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62F"/>
                          </a:solidFill>
                        </a:rPr>
                        <a:t>PMData tasks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62F"/>
                          </a:solidFill>
                        </a:rPr>
                        <a:t>Small language models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62F"/>
                          </a:solidFill>
                        </a:rPr>
                        <a:t>Task definition, 14-day window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62F"/>
                          </a:solidFill>
                        </a:rPr>
                        <a:t>HybridSense-LLM (2026)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62F"/>
                          </a:solidFill>
                        </a:rPr>
                        <a:t>PMData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62F"/>
                          </a:solidFill>
                        </a:rPr>
                        <a:t>Statistical features + LLM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62F"/>
                          </a:solidFill>
                        </a:rPr>
                        <a:t>Latest PMData result to compare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62F"/>
                          </a:solidFill>
                        </a:rPr>
                        <a:t>PAIR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62F"/>
                          </a:solidFill>
                        </a:rPr>
                        <a:t>Athlete wearable data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62F"/>
                          </a:solidFill>
                        </a:rPr>
                        <a:t>Personalized neural model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62F"/>
                          </a:solidFill>
                        </a:rPr>
                        <a:t>Injury risk; personalization helps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15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reviewed in the report: soccer-readiness time-series study (2022), LSTM + attention for athlete injury (2026), PART multimodal tennis framework.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Coverage and research gap</a:t>
            </a:r>
            <a:endParaRPr lang="en-US" sz="3200" dirty="0"/>
          </a:p>
        </p:txBody>
      </p:sp>
      <p:graphicFrame>
        <p:nvGraphicFramePr>
          <p:cNvPr id="5" name="coverage-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68680"/>
                <a:gridCol w="1051560"/>
                <a:gridCol w="1005840"/>
                <a:gridCol w="1188720"/>
                <a:gridCol w="1188720"/>
                <a:gridCol w="11887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Work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PMData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Readiness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Personal.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Multi-source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Unseen athletes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Light + explainable</a:t>
                      </a:r>
                      <a:endParaRPr lang="en-US" sz="10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62F"/>
                          </a:solidFill>
                        </a:rPr>
                        <a:t>PMData (2020)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C7D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C7D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◐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62F"/>
                          </a:solidFill>
                        </a:rPr>
                        <a:t>Health-LLM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C7D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C7D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◐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62F"/>
                          </a:solidFill>
                        </a:rPr>
                        <a:t>PerSQ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C7D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C7D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◐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62F"/>
                          </a:solidFill>
                        </a:rPr>
                        <a:t>HealthSLM-Bench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C7D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C7D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◐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◐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62F"/>
                          </a:solidFill>
                        </a:rPr>
                        <a:t>HybridSense-LLM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C7D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C7D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◐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62F"/>
                          </a:solidFill>
                        </a:rPr>
                        <a:t>PAIR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C7D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◐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262F"/>
                          </a:solidFill>
                        </a:rPr>
                        <a:t>LSTM + attention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◐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7"/>
                          </a:solidFill>
                        </a:rPr>
                        <a:t>◐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This project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C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C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C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C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C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C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C7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401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addressed   ◐ partly   – not reported (from abstracts; to verify in full texts)</a:t>
            </a:r>
            <a:endParaRPr lang="en-US" sz="1000" dirty="0"/>
          </a:p>
        </p:txBody>
      </p:sp>
      <p:sp>
        <p:nvSpPr>
          <p:cNvPr id="5" name="gap-card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reviewed work compares population, personal and fine-tuned models for next-day readiness on PMData, combining sleep, load and nutrition, tested on unseen athletes with calibration and cold-start analysis.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Proposed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diagram</a:t>
            </a:r>
            <a:endParaRPr lang="en-US" sz="1600" dirty="0"/>
          </a:p>
        </p:txBody>
      </p:sp>
      <p:pic>
        <p:nvPicPr>
          <p:cNvPr id="4" name="Image 0" descr="Block diagram: data, preprocessing, models, LOSO evaluation, readiness risk and SH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98448"/>
            <a:ext cx="7498080" cy="13087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Flowchart</a:t>
            </a:r>
            <a:endParaRPr lang="en-US" sz="1600" dirty="0"/>
          </a:p>
        </p:txBody>
      </p:sp>
      <p:pic>
        <p:nvPicPr>
          <p:cNvPr id="6" name="Image 1" descr="Flowchart of the pipeline with a success-threshold decision and an iterate lo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44368"/>
            <a:ext cx="7498080" cy="171092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Dataset and EDA</a:t>
            </a:r>
            <a:endParaRPr lang="en-US" sz="3200" dirty="0"/>
          </a:p>
        </p:txBody>
      </p:sp>
      <p:sp>
        <p:nvSpPr>
          <p:cNvPr id="3" name="stat-card-0"/>
          <p:cNvSpPr/>
          <p:nvPr/>
        </p:nvSpPr>
        <p:spPr>
          <a:xfrm>
            <a:off x="457200" y="1051560"/>
            <a:ext cx="1938528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200" dirty="0"/>
          </a:p>
        </p:txBody>
      </p:sp>
      <p:sp>
        <p:nvSpPr>
          <p:cNvPr id="6" name="stat-card-1"/>
          <p:cNvSpPr/>
          <p:nvPr/>
        </p:nvSpPr>
        <p:spPr>
          <a:xfrm>
            <a:off x="2542032" y="1051560"/>
            <a:ext cx="1938528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42032" y="10972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2,211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542032" y="16002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participant-days</a:t>
            </a:r>
            <a:endParaRPr lang="en-US" sz="1200" dirty="0"/>
          </a:p>
        </p:txBody>
      </p:sp>
      <p:sp>
        <p:nvSpPr>
          <p:cNvPr id="9" name="stat-card-2"/>
          <p:cNvSpPr/>
          <p:nvPr/>
        </p:nvSpPr>
        <p:spPr>
          <a:xfrm>
            <a:off x="4626864" y="1051560"/>
            <a:ext cx="1938528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10972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1,729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16002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reports</a:t>
            </a:r>
            <a:endParaRPr lang="en-US" sz="1200" dirty="0"/>
          </a:p>
        </p:txBody>
      </p:sp>
      <p:sp>
        <p:nvSpPr>
          <p:cNvPr id="12" name="stat-card-3"/>
          <p:cNvSpPr/>
          <p:nvPr/>
        </p:nvSpPr>
        <p:spPr>
          <a:xfrm>
            <a:off x="6711696" y="1051560"/>
            <a:ext cx="1938528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11696" y="109728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1,423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711696" y="16002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day-pairs</a:t>
            </a:r>
            <a:endParaRPr lang="en-US" sz="1200" dirty="0"/>
          </a:p>
        </p:txBody>
      </p:sp>
      <p:graphicFrame>
        <p:nvGraphicFramePr>
          <p:cNvPr id="15" name="readiness-chart" descr=""/>
          <p:cNvGraphicFramePr/>
          <p:nvPr/>
        </p:nvGraphicFramePr>
        <p:xfrm>
          <a:off x="457200" y="2148840"/>
          <a:ext cx="43891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5120640" y="214884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decisions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readiness (≤ 4.5) = 35% of days.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p03: 95% identical values; p05: zeros then fives (46-day run). Rule: exclude runs &gt; 30 days from the main analysis, keep in a sensitivity analysis.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sleep 80%, steps 94%, nutrition logs 52-64%.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Framing card</a:t>
            </a:r>
            <a:endParaRPr lang="en-US" sz="3200" dirty="0"/>
          </a:p>
        </p:txBody>
      </p:sp>
      <p:graphicFrame>
        <p:nvGraphicFramePr>
          <p:cNvPr id="8" name="framing-car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Task type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62F"/>
                          </a:solidFill>
                        </a:rPr>
                        <a:t>Binary classification: low readiness tomorrow (secondary: 3-class, regression)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Input → output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C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62F"/>
                          </a:solidFill>
                        </a:rPr>
                        <a:t>Past 7-14 days of sleep, load, wellness, logs → low-readiness day at t+1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Users &amp; affected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62F"/>
                          </a:solidFill>
                        </a:rPr>
                        <a:t>Coaches, athletes, gyms; 16 anonymised PMData participants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Costlier error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C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62F"/>
                          </a:solidFill>
                        </a:rPr>
                        <a:t>FN: a missed low day means full load on a tired athlete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 + threshold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62F"/>
                          </a:solidFill>
                        </a:rPr>
                        <a:t>Recall ≥ 0.70 at precision ≥ 0.50 (provisional)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C7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62F"/>
                          </a:solidFill>
                        </a:rPr>
                        <a:t>Persistence, majority class, 7-day mean; published PMData results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Test-set size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62F"/>
                          </a:solidFill>
                        </a:rPr>
                        <a:t>LOSO over ~14 athletes, ≈1,250 pairs, ≈440 positives → recall ± 4 pts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4F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708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threshold met, or a documented gain over persistence (macro-F1 +0.05, lower MAE). Counts marked ≈ are estimates, confirmed after the baseline run.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Tools, theory and plan</a:t>
            </a:r>
            <a:endParaRPr lang="en-US" sz="3200" dirty="0"/>
          </a:p>
        </p:txBody>
      </p:sp>
      <p:sp>
        <p:nvSpPr>
          <p:cNvPr id="3" name="col-card-0"/>
          <p:cNvSpPr/>
          <p:nvPr/>
        </p:nvSpPr>
        <p:spPr>
          <a:xfrm>
            <a:off x="457200" y="1097280"/>
            <a:ext cx="2651760" cy="347472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l-badge-0"/>
          <p:cNvSpPr/>
          <p:nvPr/>
        </p:nvSpPr>
        <p:spPr>
          <a:xfrm>
            <a:off x="640080" y="126187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261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NumPy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XGBoost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(LSTM / GRU)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Matplotlib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Jupyter, Git</a:t>
            </a:r>
            <a:endParaRPr lang="en-US" sz="1400" dirty="0"/>
          </a:p>
        </p:txBody>
      </p:sp>
      <p:sp>
        <p:nvSpPr>
          <p:cNvPr id="8" name="col-card-1"/>
          <p:cNvSpPr/>
          <p:nvPr/>
        </p:nvSpPr>
        <p:spPr>
          <a:xfrm>
            <a:off x="3246120" y="1097280"/>
            <a:ext cx="2651760" cy="347472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ol-badge-1"/>
          <p:cNvSpPr/>
          <p:nvPr/>
        </p:nvSpPr>
        <p:spPr>
          <a:xfrm>
            <a:off x="3429000" y="126187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59352" y="1261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 (Chapter 1)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74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Readiness, sRPE, ACWR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features, leakage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boosting, LSTM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LOSO, recall, calibration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personalization</a:t>
            </a:r>
            <a:endParaRPr lang="en-US" sz="1400" dirty="0"/>
          </a:p>
        </p:txBody>
      </p:sp>
      <p:sp>
        <p:nvSpPr>
          <p:cNvPr id="13" name="col-card-2"/>
          <p:cNvSpPr/>
          <p:nvPr/>
        </p:nvSpPr>
        <p:spPr>
          <a:xfrm>
            <a:off x="6035040" y="1097280"/>
            <a:ext cx="2651760" cy="347472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ol-badge-2"/>
          <p:cNvSpPr/>
          <p:nvPr/>
        </p:nvSpPr>
        <p:spPr>
          <a:xfrm>
            <a:off x="6217920" y="126187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48272" y="1261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(8 weeks)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7452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W1-2 review, EDA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W3-4 baselines, XGBoost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W5-6 LSTM, personalization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SHAP, Streamlit demo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report, final defense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hlete Readiness">
  <a:themeElements>
    <a:clrScheme name="Athlete Readiness">
      <a:dk1>
        <a:srgbClr val="16262F"/>
      </a:dk1>
      <a:lt1>
        <a:srgbClr val="FFFFFF"/>
      </a:lt1>
      <a:dk2>
        <a:srgbClr val="0F3D4C"/>
      </a:dk2>
      <a:lt2>
        <a:srgbClr val="E9F4F3"/>
      </a:lt2>
      <a:accent1>
        <a:srgbClr val="1C7C7D"/>
      </a:accent1>
      <a:accent2>
        <a:srgbClr val="F2994A"/>
      </a:accent2>
      <a:accent3>
        <a:srgbClr val="2F6F9F"/>
      </a:accent3>
      <a:accent4>
        <a:srgbClr val="7FB7A6"/>
      </a:accent4>
      <a:accent5>
        <a:srgbClr val="C8553D"/>
      </a:accent5>
      <a:accent6>
        <a:srgbClr val="5B6B77"/>
      </a:accent6>
      <a:hlink>
        <a:srgbClr val="1C7C7D"/>
      </a:hlink>
      <a:folHlink>
        <a:srgbClr val="5B6B77"/>
      </a:folHlink>
    </a:clrScheme>
    <a:fontScheme name="Athlete Readines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Next-Day Athlete Readiness Prediction - Seminar 1</dc:title>
  <dc:subject>PptxGenJS Presentation</dc:subject>
  <dc:creator>PptxGenJS</dc:creator>
  <cp:lastModifiedBy>PptxGenJS</cp:lastModifiedBy>
  <cp:revision>1</cp:revision>
  <dcterms:created xsi:type="dcterms:W3CDTF">2026-10-28T07:03:30Z</dcterms:created>
  <dcterms:modified xsi:type="dcterms:W3CDTF">2026-10-28T07:03:30Z</dcterms:modified>
</cp:coreProperties>
</file>